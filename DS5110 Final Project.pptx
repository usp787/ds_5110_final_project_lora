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58" r:id="rId5"/>
    <p:sldId id="259" r:id="rId6"/>
    <p:sldId id="25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7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F7FFF">
                <a:lumMod val="91000"/>
                <a:lumOff val="9000"/>
                <a:alpha val="100000"/>
              </a:srgbClr>
            </a:gs>
            <a:gs pos="64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732155" y="1626870"/>
            <a:ext cx="5080000" cy="28930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>
                <a:cs typeface="+mn-lt"/>
              </a:rPr>
              <a:t>Micro-F1</a:t>
            </a:r>
            <a:endParaRPr lang="en-US" altLang="zh-CN" sz="2200" b="1"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cs typeface="+mn-lt"/>
              </a:rPr>
              <a:t>Computed using the global counts of TP, FP, and FN across all samples.</a:t>
            </a:r>
            <a:endParaRPr lang="en-US" altLang="zh-CN" sz="1600"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cs typeface="+mn-lt"/>
              </a:rPr>
              <a:t>When the number of classes is large and class imbalance is severe, Micro-F1 becomes dominated by high-frequency labels.</a:t>
            </a:r>
            <a:endParaRPr lang="en-US" altLang="zh-CN" sz="1600"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cs typeface="+mn-lt"/>
              </a:rPr>
              <a:t>Provides a stronger indication of the model’s ability to recognize the most common emotion categories.</a:t>
            </a:r>
            <a:endParaRPr lang="en-US" altLang="zh-CN" sz="1600"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600">
                <a:cs typeface="+mn-lt"/>
              </a:rPr>
              <a:t>Particularly suitable for highly imbalanced datasets, such as GoEmotions</a:t>
            </a:r>
            <a:endParaRPr lang="en-US" altLang="zh-CN" sz="1600">
              <a:cs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200775" y="1626870"/>
            <a:ext cx="5080000" cy="40627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p>
            <a:pPr algn="l">
              <a:spcAft>
                <a:spcPct val="60000"/>
              </a:spcAft>
              <a:buClrTx/>
              <a:buSzTx/>
              <a:buFontTx/>
            </a:pPr>
            <a:r>
              <a:rPr lang="en-US" altLang="zh-CN" sz="2200" b="1">
                <a:cs typeface="+mn-lt"/>
              </a:rPr>
              <a:t>Macro-F1</a:t>
            </a:r>
            <a:endParaRPr lang="en-US" altLang="zh-CN" sz="2200" b="1">
              <a:cs typeface="+mn-lt"/>
            </a:endParaRPr>
          </a:p>
          <a:p>
            <a:pPr algn="l">
              <a:buClrTx/>
              <a:buSzTx/>
              <a:buFont typeface="Arial" panose="020B0604020202020204"/>
              <a:buChar char="•"/>
            </a:pPr>
            <a:r>
              <a:rPr lang="en-US" altLang="zh-CN" sz="2000">
                <a:cs typeface="+mn-lt"/>
              </a:rPr>
              <a:t>Computes F1 independently for each class and then takes the unweighted average across all classes.</a:t>
            </a:r>
            <a:endParaRPr lang="en-US" altLang="zh-CN" sz="2000">
              <a:cs typeface="+mn-lt"/>
            </a:endParaRPr>
          </a:p>
          <a:p>
            <a:pPr algn="l">
              <a:buClrTx/>
              <a:buSzTx/>
              <a:buFont typeface="Arial" panose="020B0604020202020204"/>
              <a:buChar char="•"/>
            </a:pPr>
            <a:r>
              <a:rPr lang="en-US" altLang="zh-CN" sz="2000">
                <a:cs typeface="+mn-lt"/>
              </a:rPr>
              <a:t>Assigns equal importance to every class, even when some categories have very few samples.</a:t>
            </a:r>
            <a:endParaRPr lang="en-US" altLang="zh-CN" sz="2000">
              <a:cs typeface="+mn-lt"/>
            </a:endParaRPr>
          </a:p>
          <a:p>
            <a:pPr algn="l">
              <a:buClrTx/>
              <a:buSzTx/>
              <a:buFont typeface="Arial" panose="020B0604020202020204"/>
              <a:buChar char="•"/>
            </a:pPr>
            <a:r>
              <a:rPr lang="en-US" altLang="zh-CN" sz="2000">
                <a:cs typeface="+mn-lt"/>
              </a:rPr>
              <a:t>More accurately reflects the model’s ability to learn and distinguish rare or minority emotion categories.</a:t>
            </a:r>
            <a:endParaRPr lang="en-US" altLang="zh-CN" sz="2000">
              <a:cs typeface="+mn-lt"/>
            </a:endParaRPr>
          </a:p>
          <a:p>
            <a:pPr algn="l">
              <a:buClrTx/>
              <a:buSzTx/>
              <a:buFont typeface="Arial" panose="020B0604020202020204"/>
              <a:buChar char="•"/>
            </a:pPr>
            <a:r>
              <a:rPr lang="en-US" altLang="zh-CN" sz="2000">
                <a:cs typeface="+mn-lt"/>
              </a:rPr>
              <a:t>Serves as a measure of the model’s overall fairness and generalization capability across all classes.</a:t>
            </a:r>
            <a:endParaRPr lang="en-US" altLang="zh-CN" sz="2000">
              <a:cs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622425" y="1010920"/>
            <a:ext cx="24352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What is Micro</a:t>
            </a:r>
            <a:r>
              <a:rPr lang="zh-CN" altLang="en-US" sz="280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？</a:t>
            </a:r>
            <a:endParaRPr lang="zh-CN" altLang="en-US" sz="2800">
              <a:ln w="12700">
                <a:solidFill>
                  <a:schemeClr val="accent1"/>
                </a:solidFill>
                <a:prstDash val="solid"/>
              </a:ln>
              <a:solidFill>
                <a:srgbClr val="00B0F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5316855" y="101092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80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W</a:t>
            </a:r>
            <a:r>
              <a:rPr lang="en-US" altLang="zh-CN" sz="280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hat is Macro</a:t>
            </a:r>
            <a:r>
              <a:rPr lang="zh-CN" altLang="en-US" sz="280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？</a:t>
            </a:r>
            <a:endParaRPr lang="zh-CN" altLang="en-US" sz="2800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5" y="260985"/>
            <a:ext cx="12191365" cy="749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Bahnschrift SemiBold" panose="020B0502040204020203" charset="0"/>
                <a:cs typeface="Bahnschrift SemiBold" panose="020B0502040204020203" charset="0"/>
              </a:rPr>
              <a:t>Micro-F1 vs Macro-F1 —What Do They Tell Us About Model Performance?</a:t>
            </a:r>
            <a:endParaRPr lang="en-US" altLang="zh-CN" sz="280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Gemini_Generated_Image_xbexm5xbexm5xbex"/>
          <p:cNvPicPr>
            <a:picLocks noChangeAspect="1"/>
          </p:cNvPicPr>
          <p:nvPr/>
        </p:nvPicPr>
        <p:blipFill>
          <a:blip r:embed="rId1"/>
          <a:srcRect l="43084" t="5037" r="6441" b="8648"/>
          <a:stretch>
            <a:fillRect/>
          </a:stretch>
        </p:blipFill>
        <p:spPr>
          <a:xfrm>
            <a:off x="5903595" y="635"/>
            <a:ext cx="6288405" cy="68573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6710" y="580390"/>
            <a:ext cx="5556885" cy="1109980"/>
          </a:xfrm>
        </p:spPr>
        <p:txBody>
          <a:bodyPr>
            <a:normAutofit fontScale="90000"/>
          </a:bodyPr>
          <a:lstStyle/>
          <a:p>
            <a:r>
              <a:rPr lang="en-US" altLang="zh-CN" sz="3555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Why</a:t>
            </a:r>
            <a:br>
              <a:rPr lang="en-US" altLang="zh-CN" sz="3555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en-US" altLang="zh-CN" sz="3555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do we need</a:t>
            </a:r>
            <a:br>
              <a:rPr lang="en-US" altLang="zh-CN" sz="3555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en-US" altLang="zh-CN" sz="3555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both Micro-F1 and Macro-F1?</a:t>
            </a:r>
            <a:endParaRPr lang="en-US" altLang="zh-CN" sz="3555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63195" y="2997835"/>
            <a:ext cx="6637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n w="15875">
                  <a:solidFill>
                    <a:schemeClr val="accent1"/>
                  </a:solidFill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A single metric cannot fully capture the model’s true performance</a:t>
            </a:r>
            <a:endParaRPr lang="en-US" altLang="zh-CN" b="1">
              <a:ln w="15875">
                <a:solidFill>
                  <a:schemeClr val="accent1"/>
                </a:solidFill>
              </a:ln>
              <a:solidFill>
                <a:schemeClr val="accent3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63195" y="3613150"/>
            <a:ext cx="64554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n w="15875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  <a:solidFill>
                  <a:schemeClr val="accent3">
                    <a:lumMod val="75000"/>
                  </a:schemeClr>
                </a:solidFill>
                <a:effectLst/>
              </a:rPr>
              <a:t>In highly imbalanced datasets, a model may appear “good” while only learning frequent labels</a:t>
            </a:r>
            <a:endParaRPr lang="en-US" altLang="zh-CN" b="1">
              <a:ln w="15875">
                <a:solidFill>
                  <a:schemeClr val="accent2">
                    <a:lumMod val="60000"/>
                    <a:lumOff val="40000"/>
                  </a:schemeClr>
                </a:solidFill>
              </a:ln>
              <a:solidFill>
                <a:schemeClr val="accent3">
                  <a:lumMod val="75000"/>
                </a:schemeClr>
              </a:solidFill>
              <a:effectLst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3195" y="4444365"/>
            <a:ext cx="6039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n w="15875">
                  <a:solidFill>
                    <a:schemeClr val="accent1"/>
                  </a:solidFill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Using both metrics provides evaluation from two perspectives: overall performance and class-level fairness</a:t>
            </a:r>
            <a:endParaRPr lang="en-US" altLang="zh-CN" b="1">
              <a:ln w="15875">
                <a:solidFill>
                  <a:schemeClr val="accent1"/>
                </a:solidFill>
              </a:ln>
              <a:solidFill>
                <a:schemeClr val="accent3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63195" y="5360670"/>
            <a:ext cx="5785485" cy="955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ln w="12700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Helps identify whether the model fails on minority emotion categories and prevents misleading conclusions</a:t>
            </a:r>
            <a:endParaRPr lang="en-US" altLang="zh-CN" b="1">
              <a:ln w="12700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</a:ln>
              <a:solidFill>
                <a:schemeClr val="accent3">
                  <a:lumMod val="75000"/>
                </a:schemeClr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02815" y="2522220"/>
            <a:ext cx="9150985" cy="3655060"/>
          </a:xfrm>
        </p:spPr>
        <p:txBody>
          <a:bodyPr/>
          <a:p>
            <a:pPr marL="0" indent="0">
              <a:buNone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556000" y="414020"/>
            <a:ext cx="5080000" cy="635000"/>
          </a:xfrm>
          <a:prstGeom prst="rect">
            <a:avLst/>
          </a:prstGeom>
        </p:spPr>
        <p:txBody>
          <a:bodyPr/>
          <a:p>
            <a:endParaRPr sz="160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2075815" y="583565"/>
            <a:ext cx="72237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outpu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94180" y="993775"/>
            <a:ext cx="9185910" cy="5477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 </a:t>
            </a:r>
            <a:r>
              <a:rPr lang="zh-CN" altLang="en-US"/>
              <a:t>没有</a:t>
            </a:r>
            <a:r>
              <a:rPr lang="en-US" altLang="zh-CN"/>
              <a:t>lora and lora </a:t>
            </a:r>
            <a:r>
              <a:rPr lang="zh-CN" altLang="en-US"/>
              <a:t>结果</a:t>
            </a:r>
            <a:r>
              <a:rPr lang="en-US" altLang="zh-CN"/>
              <a:t> </a:t>
            </a:r>
            <a:r>
              <a:rPr lang="zh-CN" altLang="en-US"/>
              <a:t>对比</a:t>
            </a:r>
            <a:endParaRPr lang="zh-CN" altLang="en-US"/>
          </a:p>
          <a:p>
            <a:r>
              <a:rPr lang="zh-CN" altLang="en-US"/>
              <a:t>可视化</a:t>
            </a:r>
            <a:r>
              <a:rPr lang="en-US" altLang="zh-CN"/>
              <a:t> 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4.5,&quot;left&quot;:57.65,&quot;top&quot;:79.6,&quot;width&quot;:841}"/>
</p:tagLst>
</file>

<file path=ppt/tags/tag2.xml><?xml version="1.0" encoding="utf-8"?>
<p:tagLst xmlns:p="http://schemas.openxmlformats.org/presentationml/2006/main">
  <p:tag name="KSO_WM_DIAGRAM_VIRTUALLY_FRAME" val="{&quot;height&quot;:334.5,&quot;left&quot;:57.65,&quot;top&quot;:79.6,&quot;width&quot;:841}"/>
</p:tagLst>
</file>

<file path=ppt/tags/tag3.xml><?xml version="1.0" encoding="utf-8"?>
<p:tagLst xmlns:p="http://schemas.openxmlformats.org/presentationml/2006/main">
  <p:tag name="KSO_WM_DIAGRAM_VIRTUALLY_FRAME" val="{&quot;height&quot;:334.5,&quot;left&quot;:57.65,&quot;top&quot;:79.6,&quot;width&quot;:841}"/>
</p:tagLst>
</file>

<file path=ppt/tags/tag4.xml><?xml version="1.0" encoding="utf-8"?>
<p:tagLst xmlns:p="http://schemas.openxmlformats.org/presentationml/2006/main">
  <p:tag name="KSO_WM_DIAGRAM_VIRTUALLY_FRAME" val="{&quot;height&quot;:334.5,&quot;left&quot;:57.65,&quot;top&quot;:79.6,&quot;width&quot;:841}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1727_1*a*1"/>
  <p:tag name="KSO_WM_TEMPLATE_CATEGORY" val="custom"/>
  <p:tag name="KSO_WM_TEMPLATE_INDEX" val="20231727"/>
  <p:tag name="KSO_WM_UNIT_LAYERLEVEL" val="1"/>
  <p:tag name="KSO_WM_TAG_VERSION" val="3.0"/>
  <p:tag name="KSO_WM_BEAUTIFY_FLAG" val="#wm#"/>
  <p:tag name="KSO_WM_UNIT_VALUE" val="30"/>
  <p:tag name="KSO_WM_DIAGRAM_GROUP_CODE" val="l1-1"/>
  <p:tag name="KSO_WM_UNIT_TEXT_FILL_FORE_SCHEMECOLOR_INDEX" val="13"/>
  <p:tag name="KSO_WM_UNIT_TEXT_FILL_TYPE" val="1"/>
  <p:tag name="KSO_WM_UNIT_USESOURCEFORMAT_APPLY" val="0"/>
</p:tagLst>
</file>

<file path=ppt/tags/tag6.xml><?xml version="1.0" encoding="utf-8"?>
<p:tagLst xmlns:p="http://schemas.openxmlformats.org/presentationml/2006/main">
  <p:tag name="KSO_WM_SLIDE_ID" val="custom20231727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custom"/>
  <p:tag name="KSO_WM_TEMPLATE_INDEX" val="20231727"/>
  <p:tag name="KSO_WM_SLIDE_TYPE" val="text"/>
  <p:tag name="KSO_WM_SLIDE_SUBTYPE" val="picTxt"/>
  <p:tag name="KSO_WM_SLIDE_SIZE" val="409.475*360.773"/>
  <p:tag name="KSO_WM_SLIDE_POSITION" val="46.425*133.089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1305</Words>
  <Application>WPS 演示</Application>
  <PresentationFormat>宽屏</PresentationFormat>
  <Paragraphs>33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Bahnschrift SemiBold</vt:lpstr>
      <vt:lpstr>Times New Roman</vt:lpstr>
      <vt:lpstr>Microsoft JhengHei Light</vt:lpstr>
      <vt:lpstr>WPS</vt:lpstr>
      <vt:lpstr>PowerPoint 演示文稿</vt:lpstr>
      <vt:lpstr>单击此处添加标题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</dc:creator>
  <cp:lastModifiedBy>烜</cp:lastModifiedBy>
  <cp:revision>8</cp:revision>
  <dcterms:created xsi:type="dcterms:W3CDTF">2023-08-09T12:44:00Z</dcterms:created>
  <dcterms:modified xsi:type="dcterms:W3CDTF">2025-11-25T21:52:00Z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72E31FF6175B4EB096D8C2612FF7A46B_12</vt:lpwstr>
  </property>
</Properties>
</file>